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70" r:id="rId14"/>
    <p:sldId id="271" r:id="rId15"/>
    <p:sldId id="272" r:id="rId16"/>
    <p:sldId id="273" r:id="rId17"/>
    <p:sldId id="277" r:id="rId18"/>
    <p:sldId id="268" r:id="rId19"/>
    <p:sldId id="269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4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7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1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36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3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3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0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C337E-5254-417A-B8F1-73B9C532F829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73103-8A02-4822-BD7B-F98811FEF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8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24959" y="2227385"/>
            <a:ext cx="2827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 smtClean="0"/>
              <a:t>List?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797820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0909" y="596699"/>
            <a:ext cx="6096000" cy="11866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Prolog has a list construct denoted </a:t>
            </a:r>
            <a:r>
              <a:rPr lang="en-US" sz="1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[...]</a:t>
            </a:r>
            <a:r>
              <a:rPr lang="en-US" sz="1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Elements are separated by commas. </a:t>
            </a:r>
            <a:endParaRPr lang="en-US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[0, 2, 4, 9]</a:t>
            </a:r>
            <a:r>
              <a:rPr lang="en-US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 is a list. 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32" y="1977166"/>
            <a:ext cx="6984762" cy="404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5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1052512"/>
            <a:ext cx="808672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29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1333500"/>
            <a:ext cx="79724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386" y="387899"/>
            <a:ext cx="9287033" cy="544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1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603" y="843911"/>
            <a:ext cx="7866644" cy="5310219"/>
          </a:xfrm>
        </p:spPr>
      </p:pic>
    </p:spTree>
    <p:extLst>
      <p:ext uri="{BB962C8B-B14F-4D97-AF65-F5344CB8AC3E}">
        <p14:creationId xmlns:p14="http://schemas.microsoft.com/office/powerpoint/2010/main" val="219302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521" y="450445"/>
            <a:ext cx="8272329" cy="558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5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661987"/>
            <a:ext cx="80391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2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94" y="805174"/>
            <a:ext cx="8666860" cy="595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2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112" y="23477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Recursion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958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679" y="1495692"/>
            <a:ext cx="757442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dirty="0" smtClean="0">
                <a:solidFill>
                  <a:srgbClr val="000080"/>
                </a:solidFill>
                <a:effectLst/>
                <a:latin typeface="Times New Roman" panose="02020603050405020304" pitchFamily="18" charset="0"/>
              </a:rPr>
              <a:t>The recursion in any language is a function that can call itself until the goal has been succeed.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0" i="0" dirty="0" smtClean="0">
                <a:solidFill>
                  <a:srgbClr val="000080"/>
                </a:solidFill>
                <a:effectLst/>
                <a:latin typeface="Times New Roman" panose="02020603050405020304" pitchFamily="18" charset="0"/>
              </a:rPr>
              <a:t>In Prolog, recursion appears when a predicate contain a goal that refers to itself.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2407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373" y="621483"/>
            <a:ext cx="4927079" cy="18463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13" y="2467819"/>
            <a:ext cx="5193078" cy="30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093" y="878258"/>
            <a:ext cx="5904610" cy="421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51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178" y="983032"/>
            <a:ext cx="6953884" cy="459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87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186" y="979962"/>
            <a:ext cx="6463158" cy="438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20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20" y="717001"/>
            <a:ext cx="8049738" cy="54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5652" y="327876"/>
            <a:ext cx="10040815" cy="67403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Suppose we posed the following query: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?- member(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yolanda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yolanda,trudy,vincent,jules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Prolog will immediately answer `Yes'. Why? Because it can unify 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663366"/>
                </a:solidFill>
                <a:effectLst/>
                <a:latin typeface="Lucida Console" panose="020B0609040504020204" pitchFamily="49" charset="0"/>
                <a:cs typeface="Tahoma" panose="020B0604030504040204" pitchFamily="34" charset="0"/>
              </a:rPr>
              <a:t>yolanda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with both occurrences of 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63366"/>
                </a:solidFill>
                <a:effectLst/>
                <a:latin typeface="Lucida Console" panose="020B0609040504020204" pitchFamily="49" charset="0"/>
                <a:cs typeface="Tahoma" panose="020B0604030504040204" pitchFamily="34" charset="0"/>
              </a:rPr>
              <a:t>X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in the first clause (the fact) in the definition of 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63366"/>
                </a:solidFill>
                <a:effectLst/>
                <a:latin typeface="Lucida Console" panose="020B0609040504020204" pitchFamily="49" charset="0"/>
                <a:cs typeface="Tahoma" panose="020B0604030504040204" pitchFamily="34" charset="0"/>
              </a:rPr>
              <a:t>member/2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, so it succeeds immediately.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Now consider the following query: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?- member(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vincent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yolanda,trudy,vincent,jules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Now the first rule won't help (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663366"/>
                </a:solidFill>
                <a:effectLst/>
                <a:latin typeface="Lucida Console" panose="020B0609040504020204" pitchFamily="49" charset="0"/>
                <a:cs typeface="Tahoma" panose="020B0604030504040204" pitchFamily="34" charset="0"/>
              </a:rPr>
              <a:t>vincent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and 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663366"/>
                </a:solidFill>
                <a:effectLst/>
                <a:latin typeface="Lucida Console" panose="020B0609040504020204" pitchFamily="49" charset="0"/>
                <a:cs typeface="Tahoma" panose="020B0604030504040204" pitchFamily="34" charset="0"/>
              </a:rPr>
              <a:t>yolanda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are distinct atoms) so Prolog goes to the second clause, the recursive rule. This gives Prolog a new goal: it now has to see if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vincent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trudy,vincent,jules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Now, once again the first clause won't help, so Prolog goes (again) to the recursive rule. This gives it a new goal, namely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vincent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This time, the first clause does help, and the query succeeds.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So far so good, but we need to ask an important question. What happens when we pose a query that 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fails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? For example, what happens if we pose the query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member(zed,[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yolanda,trudy,vincent,jules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Now, this should obviously fail (after all, 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63366"/>
                </a:solidFill>
                <a:effectLst/>
                <a:latin typeface="Lucida Console" panose="020B0609040504020204" pitchFamily="49" charset="0"/>
                <a:cs typeface="Tahoma" panose="020B0604030504040204" pitchFamily="34" charset="0"/>
              </a:rPr>
              <a:t>zed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is not on the list). So how does Prolog handle this? In particular, how can we be sure that Prolog really will 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stop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, and say 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no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, instead going into an endless recursive loop?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Let's think this through systematically. Once again, the first clause cannot help, so Prolog uses the recursive rule, which gives it a new goal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member(zed,[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trudy,vincent,jules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Again, the first clause doesn't help, so Prolog reuses the recursive rule and tries to show that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member(zed,[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vincent,jules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Similarly, the first rule doesn't help, so Prolog reuses the second rule yet again and tries the goal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member(zed,[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jules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]).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Again the first clause doesn't help, so Prolog uses the second rule, which gives it the goal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member(zed,[])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43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rolog Tutorial -- 2.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068" y="1477665"/>
            <a:ext cx="5577945" cy="432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682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log Tutorial -- 3.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104" y="1520691"/>
            <a:ext cx="5962650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978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?- member(X,[23,45,67,12,222,19,9,6]), Y is X*X, Y &lt; 100.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alphaUcPeriod"/>
            </a:pPr>
            <a:r>
              <a:rPr lang="en-US" dirty="0" smtClean="0"/>
              <a:t>X=12</a:t>
            </a:r>
          </a:p>
          <a:p>
            <a:pPr marL="571500" indent="-571500">
              <a:buFont typeface="+mj-lt"/>
              <a:buAutoNum type="alphaUcPeriod"/>
            </a:pPr>
            <a:r>
              <a:rPr lang="en-US" dirty="0" smtClean="0"/>
              <a:t>X=9</a:t>
            </a:r>
          </a:p>
          <a:p>
            <a:pPr marL="571500" indent="-571500">
              <a:buFont typeface="+mj-lt"/>
              <a:buAutoNum type="alphaUcPeriod"/>
            </a:pPr>
            <a:r>
              <a:rPr lang="en-US" dirty="0" smtClean="0"/>
              <a:t>X=10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04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00195" y="794205"/>
            <a:ext cx="8709479" cy="4401205"/>
          </a:xfrm>
          <a:prstGeom prst="rect">
            <a:avLst/>
          </a:prstGeom>
          <a:solidFill>
            <a:srgbClr val="FFFF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domains list=symbol* predicates add(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symbol,list,list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clauses add(X,[],[X]). add(X,[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Y|Tail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],[Y|Tail1]):- add(X,Tail,Tail1).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 PUT ======= Goal: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add(e,[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a,b,c,d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NewList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NewList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a"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"d"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1 Solution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20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29697" y="765930"/>
            <a:ext cx="9562744" cy="5078313"/>
          </a:xfrm>
          <a:prstGeom prst="rect">
            <a:avLst/>
          </a:prstGeom>
          <a:solidFill>
            <a:srgbClr val="FFFF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domains list=symbol*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predicates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add(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symbol,list,list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clauses add(X,L2,[X|L2]).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 PUT =======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Goal: add(a,[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b,c,d,e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NewList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NewList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a"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"d"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"e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71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131</Words>
  <Application>Microsoft Office PowerPoint</Application>
  <PresentationFormat>Widescreen</PresentationFormat>
  <Paragraphs>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Latha</vt:lpstr>
      <vt:lpstr>Lucida Console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?- member(X,[23,45,67,12,222,19,9,6]), Y is X*X, Y &lt; 100.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7</cp:revision>
  <dcterms:created xsi:type="dcterms:W3CDTF">2020-11-19T03:44:48Z</dcterms:created>
  <dcterms:modified xsi:type="dcterms:W3CDTF">2020-11-19T06:31:21Z</dcterms:modified>
</cp:coreProperties>
</file>